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75887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Arial"/>
              </a:rPr>
              <a:t>Lighthouse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C9D6E2"/>
                </a:solidFill>
                <a:latin typeface="Arial"/>
              </a:rPr>
              <a:t>Building an agent-guided mobile robot from an empty Gazebo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9FC5E8"/>
                </a:solidFill>
                <a:latin typeface="Arial"/>
              </a:rPr>
              <a:t>SLAM  ·  Nav2  ·  frontier exploration  ·  natural-language control  ·  preemption</a:t>
            </a:r>
          </a:p>
          <a:p>
            <a:pPr algn="l">
              <a:spcBef>
                <a:spcPts val="1400"/>
              </a:spcBef>
            </a:pPr>
            <a:r>
              <a:rPr sz="1400" b="0" i="0">
                <a:solidFill>
                  <a:srgbClr val="8A9BAE"/>
                </a:solidFill>
                <a:latin typeface="Arial"/>
              </a:rPr>
              <a:t>Dan · 2026-10-26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One sentence, and everything else serves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Arial"/>
              </a:rPr>
              <a:t>「带我去厨房看看冰箱」  —  "take me to the kitchen and look at the fridge"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Resolve the words to a place and an object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Drive there without hitting furniture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Stop at a pose from which the camera can actually see the object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Answer what it saw — or refuse honestly if the place does not exist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Abandon the trip cleanly if the operator changes their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5A6B7B"/>
                </a:solidFill>
                <a:latin typeface="Arial"/>
              </a:rPr>
              <a:t>Design driver: every failure must be diagnosable, not merely observed.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Five layers, one authority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7406640" cy="8412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Arial"/>
              </a:rPr>
              <a:t>5 ·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472184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1F2933"/>
                </a:solidFill>
                <a:latin typeface="Arial"/>
              </a:rPr>
              <a:t>owns concurrency: one task per utterance</a:t>
            </a:r>
          </a:p>
        </p:txBody>
      </p:sp>
      <p:sp>
        <p:nvSpPr>
          <p:cNvPr id="7" name="Down Arrow 6"/>
          <p:cNvSpPr/>
          <p:nvPr/>
        </p:nvSpPr>
        <p:spPr>
          <a:xfrm>
            <a:off x="1207008" y="2276856"/>
            <a:ext cx="274320" cy="137160"/>
          </a:xfrm>
          <a:prstGeom prst="downArrow">
            <a:avLst/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441448"/>
            <a:ext cx="7406640" cy="841248"/>
          </a:xfrm>
          <a:prstGeom prst="roundRect">
            <a:avLst/>
          </a:prstGeom>
          <a:solidFill>
            <a:srgbClr val="1B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Arial"/>
              </a:rPr>
              <a:t>4 ·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496312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1F2933"/>
                </a:solidFill>
                <a:latin typeface="Arial"/>
              </a:rPr>
              <a:t>owns intent: which goal, in words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07008" y="3300984"/>
            <a:ext cx="274320" cy="137160"/>
          </a:xfrm>
          <a:prstGeom prst="downArrow">
            <a:avLst/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465576"/>
            <a:ext cx="7406640" cy="841248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Arial"/>
              </a:rPr>
              <a:t>3 · Semantic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520440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1F2933"/>
                </a:solidFill>
                <a:latin typeface="Arial"/>
              </a:rPr>
              <a:t>owns naming: a database, read-only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207008" y="4325112"/>
            <a:ext cx="274320" cy="137160"/>
          </a:xfrm>
          <a:prstGeom prst="downArrow">
            <a:avLst/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489704"/>
            <a:ext cx="7406640" cy="841248"/>
          </a:xfrm>
          <a:prstGeom prst="roundRect">
            <a:avLst/>
          </a:prstGeom>
          <a:solidFill>
            <a:srgbClr val="3E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Arial"/>
              </a:rPr>
              <a:t>2 · ROS 2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544568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1F2933"/>
                </a:solidFill>
                <a:latin typeface="Arial"/>
              </a:rPr>
              <a:t>owns motion: goals in, velocities out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207008" y="5349240"/>
            <a:ext cx="274320" cy="137160"/>
          </a:xfrm>
          <a:prstGeom prst="downArrow">
            <a:avLst/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5513832"/>
            <a:ext cx="7406640" cy="841248"/>
          </a:xfrm>
          <a:prstGeom prst="roundRect">
            <a:avLst/>
          </a:prstGeom>
          <a:solidFill>
            <a:srgbClr val="6B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Arial"/>
              </a:rPr>
              <a:t>1 ·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568696"/>
            <a:ext cx="3520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 i="0">
                <a:solidFill>
                  <a:srgbClr val="1F2933"/>
                </a:solidFill>
                <a:latin typeface="Arial"/>
              </a:rPr>
              <a:t>owns physics and sensors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447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5A6B7B"/>
                </a:solidFill>
                <a:latin typeface="Arial"/>
              </a:rPr>
              <a:t>Decisions flow down as goals; measurements flow up as observations. The model never touches /cmd_vel.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A generated house, not a hand-drawn one</a:t>
            </a:r>
          </a:p>
        </p:txBody>
      </p:sp>
      <p:pic>
        <p:nvPicPr>
          <p:cNvPr id="5" name="Picture 4" descr="world_floor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400800" cy="53046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340096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A6B7B"/>
                </a:solidFill>
                <a:latin typeface="Arial"/>
              </a:rPr>
              <a:t>Fig. 7 rooms + central corridor, 17.8 × 13.8 m. 61 objects, 16 of them deliberately standing in the corridor.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59" y="1417320"/>
            <a:ext cx="4617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build_world.py (898 lines) is the only source of world truth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It also generates semantics.json and the 32-waypoint route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2D world raises low furniture so a single-line lidar can see it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3D world keeps real heights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Hand-editing a .world file is forbidden by rule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Two lidar heads, one camera without depth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7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42"/>
                <a:gridCol w="1831529"/>
                <a:gridCol w="3829561"/>
                <a:gridCol w="2830545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Sensor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Good for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Must not be used for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/scan (LaserScan)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8.4–8.5 Hz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SLAM, costmaps, passability, frontiers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seeing above the slice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/scan/points (64-line)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8.4 Hz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future 3D costmap, offline analysis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anything today — nothing subscribes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/camera/image_raw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7.1 Hz, 320×240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VLM identity check, passability veto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geometry, scale, depth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/imu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100 Hz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EKF experiments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accepted navigation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/odom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50 Hz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truth-pose navigation, TF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real-robot localisation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044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A6B7B"/>
                </a:solidFill>
                <a:latin typeface="Arial"/>
              </a:rPr>
              <a:t>The camera is a semantic instrument. It has no depth channel at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One message type is the spine of the stack</a:t>
            </a:r>
          </a:p>
        </p:txBody>
      </p:sp>
      <p:pic>
        <p:nvPicPr>
          <p:cNvPr id="5" name="Picture 4" descr="sca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49440" cy="999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80252"/>
            <a:ext cx="6949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A6B7B"/>
                </a:solidFill>
                <a:latin typeface="Arial"/>
              </a:rPr>
              <a:t>Fig. In 3D mode the gz LaserScan is never bridged — only the point cloud, projected to a single 2D slice.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4069079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360 rays, 0.12–12.0 m, frame base_scan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A guard asserts exactly one publisher AND the right node name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≥ 2 publishers fails immediately: never transient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A rogue publisher started later is caught within 30 s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Cost of the contract: the costmap cannot see overhangs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SLAM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The map everything else trusts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78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954"/>
                <a:gridCol w="4858118"/>
                <a:gridCol w="359860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it is known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size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359 × 278 cells @ 5 cm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PGM header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extent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17.95 × 13.90 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cells × resolution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tilt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−0.1°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fitted in the single map decoder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interior unknown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13.5 m²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inside the house footprint only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live map (3D)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dan_house_lighthouse3d.yaml → _explore4.pgm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config/maps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localisation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loc:=truth for every acceptance run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the honest gap: loc:=amcl unverified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88536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A6B7B"/>
                </a:solidFill>
                <a:latin typeface="Arial"/>
              </a:rPr>
              <a:t>One decoder (tools/map_quality.py) defines free / occupied / unknown. A second decoder once reported "done" with 180 m² never seen.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The door was innocent; the goal point was guilty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A 1.30 m door with inflation 0.45 m leaves 0.02 m per side — feasible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Widest-path probe: every door is 0.50–0.55 m half-width → cost 0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C05621"/>
                </a:solidFill>
                <a:latin typeface="Arial"/>
              </a:rPr>
              <a:t>Failed goals measured 0.35–0.40 m clearance — inside the inflation band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Inside that band the cost is 132–177 per cell; DWB must cross all of it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It often prefers to rotate in place instead of entering</a:t>
            </a:r>
          </a:p>
          <a:p>
            <a:pPr algn="l"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Arial"/>
              </a:rPr>
              <a:t>Stall diagnosis: 419/419 trajectories valid, vx=0.000 scored 63.40 vs 72.70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→  The robot was not stuck — standing still was simply cheaper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5A6B7B"/>
                </a:solidFill>
                <a:latin typeface="Arial"/>
              </a:rPr>
              <a:t>"No valid trajectories = 0" is not a health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Two ways to build a map, kept for two reasons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7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872"/>
                <a:gridCol w="4537903"/>
                <a:gridCol w="4537903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Tour (frozen)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Frontier exploration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Driver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tour_node.py, 521 lines, plain Twist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frontier_explore.py, 943 lines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32 waypoints from route.json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live SLAM map, no input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~7 min of simulation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20–45 min, budget-capped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Best result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359 × 278 map, −0.1° tilt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15.8 m² interior unknown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phase-1 acceptance artefact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the experiment platform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044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A6B7B"/>
                </a:solidFill>
                <a:latin typeface="Arial"/>
              </a:rPr>
              <a:t>The exploration node is valuable for its cancellation machinery, not its frontier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One run per arm is not an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15 goals: SmacPlanner2D wins by 21 m²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C05621"/>
                </a:solidFill>
                <a:latin typeface="Arial"/>
              </a:rPr>
              <a:t>40 goals, same code: NavFn wins by 18 m²</a:t>
            </a:r>
          </a:p>
          <a:p>
            <a:pPr algn="l"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Arial"/>
              </a:rPr>
              <a:t>Short runs measure variance, not effect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≥ 3 repetitions, ≥ 40 goals, compare medians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Always print the within-arm range next to the between-arm shift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Isolation: fresh DDS domain + Gazebo partition + map prefix per run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Budget by the knee of the curve (~48 goals), not by round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5A6B7B"/>
                </a:solidFill>
                <a:latin typeface="Arial"/>
              </a:rPr>
              <a:t>A driver that cannot invalidate its own runs will happily produce confident nonsense.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More budget does not buy more map</a:t>
            </a:r>
          </a:p>
        </p:txBody>
      </p:sp>
      <p:pic>
        <p:nvPicPr>
          <p:cNvPr id="5" name="Picture 4" descr="coverag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583680" cy="4212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53481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A6B7B"/>
                </a:solidFill>
                <a:latin typeface="Arial"/>
              </a:rPr>
              <a:t>Fig. Recomputed from the checkpoint maps of both 80-goal runs. Knee at ~48 goals; the last 32 goals buy 2.2–2.9 m² in 41 minutes of simulation.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17320"/>
            <a:ext cx="44348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80 goals: 63/80 and 57/80 reached, both capped by goal count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Stalls triple towards the cap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Residue is shadow pockets behind furniture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No configuration beat the 13.5 m² test map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Recorded as a ceiling, not a target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A parameter that turned out not to matter</a:t>
            </a:r>
          </a:p>
        </p:txBody>
      </p:sp>
      <p:pic>
        <p:nvPicPr>
          <p:cNvPr id="5" name="Picture 4" descr="clearance_3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766560" cy="20874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566867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A6B7B"/>
                </a:solidFill>
                <a:latin typeface="Arial"/>
              </a:rPr>
              <a:t>Fig. 3 runs per arm, 40 goals each. Between-arm median shift 2.9 m² vs within-arm range 13.8 m².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417320"/>
            <a:ext cx="4251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0.40 / 0.50 / 0.55 clearance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Reached 33 / 36 / 33, stalls 6 / 3 / 6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Every between-arm difference &lt; the noise inside an arm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Verdict: clearance is a safety floor, not a coverage knob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One invalid run was retried on a new domain — and recorded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Language in, motion out — with authority kept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Four processes: launch · rosbridge · agent_bridge · venv agent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C05621"/>
                </a:solidFill>
                <a:latin typeface="Arial"/>
              </a:rPr>
              <a:t>Iron rule: anything importing rclpy runs on the system interpreter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Status topic is latched, or a late subscriber waits forever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Every goal carries a sequence number; stale results are dropped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•  Agent model qwen3-vl:8b · reporter model qwen2.5:7b (1.9 s vs 31.7 s)</a:t>
            </a:r>
          </a:p>
          <a:p>
            <a:pPr algn="l">
              <a:spcBef>
                <a:spcPts val="900"/>
              </a:spcBef>
            </a:pPr>
            <a:r>
              <a:rPr sz="1900" b="0" i="0">
                <a:solidFill>
                  <a:srgbClr val="1F2933"/>
                </a:solidFill>
                <a:latin typeface="Arial"/>
              </a:rPr>
              <a:t>→  Seven tools: list_rooms, find_place, where_am_i, go_to, go_to_room, look_at, check_path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5A6B7B"/>
                </a:solidFill>
                <a:latin typeface="Arial"/>
              </a:rPr>
              <a:t>Asked to 「带我去沙发看看」, the model called find_place, answered, and never moved. tool_choice="required" was ignored by the compat layer. Hence: code moves the robot.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Authored truth, not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i="0">
                <a:solidFill>
                  <a:srgbClr val="2B6CB0"/>
                </a:solidFill>
                <a:latin typeface="Arial"/>
              </a:rPr>
              <a:t>8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A6B7B"/>
                </a:solidFill>
                <a:latin typeface="Arial"/>
              </a:rPr>
              <a:t>rooms (7 + corridor)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5848" y="141732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i="0">
                <a:solidFill>
                  <a:srgbClr val="2B6CB0"/>
                </a:solidFill>
                <a:latin typeface="Arial"/>
              </a:rPr>
              <a:t>61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A6B7B"/>
                </a:solidFill>
                <a:latin typeface="Arial"/>
              </a:rPr>
              <a:t>objects in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141732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i="0">
                <a:solidFill>
                  <a:srgbClr val="2B6CB0"/>
                </a:solidFill>
                <a:latin typeface="Arial"/>
              </a:rPr>
              <a:t>33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A6B7B"/>
                </a:solidFill>
                <a:latin typeface="Arial"/>
              </a:rPr>
              <a:t>object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141732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i="0">
                <a:solidFill>
                  <a:srgbClr val="2B6CB0"/>
                </a:solidFill>
                <a:latin typeface="Arial"/>
              </a:rPr>
              <a:t>0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5A6B7B"/>
                </a:solidFill>
                <a:latin typeface="Arial"/>
              </a:rPr>
              <a:t>lines of perception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6324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100"/>
              </a:spcBef>
            </a:pPr>
            <a:r>
              <a:rPr sz="1700" b="0" i="0">
                <a:solidFill>
                  <a:srgbClr val="1F2933"/>
                </a:solidFill>
                <a:latin typeface="Arial"/>
              </a:rPr>
              <a:t>•  Monocular camera: no depth, no scale → no map write-back</a:t>
            </a:r>
          </a:p>
          <a:p>
            <a:pPr algn="l">
              <a:spcBef>
                <a:spcPts val="1100"/>
              </a:spcBef>
            </a:pPr>
            <a:r>
              <a:rPr sz="1700" b="0" i="0">
                <a:solidFill>
                  <a:srgbClr val="1F2933"/>
                </a:solidFill>
                <a:latin typeface="Arial"/>
              </a:rPr>
              <a:t>•  Millimetre coordinates, because it comes from the same table as physics</a:t>
            </a:r>
          </a:p>
          <a:p>
            <a:pPr algn="l">
              <a:spcBef>
                <a:spcPts val="1100"/>
              </a:spcBef>
            </a:pPr>
            <a:r>
              <a:rPr sz="1700" b="0" i="0">
                <a:solidFill>
                  <a:srgbClr val="1F2933"/>
                </a:solidFill>
                <a:latin typeface="Arial"/>
              </a:rPr>
              <a:t>•  Standoff: 16 directions, clearance = Nav2 inflation radius (0.45 m)</a:t>
            </a:r>
          </a:p>
          <a:p>
            <a:pPr algn="l">
              <a:spcBef>
                <a:spcPts val="1100"/>
              </a:spcBef>
            </a:pPr>
            <a:r>
              <a:rPr sz="1700" b="0" i="0">
                <a:solidFill>
                  <a:srgbClr val="1F2933"/>
                </a:solidFill>
                <a:latin typeface="Arial"/>
              </a:rPr>
              <a:t>•  Observation pose: object radius + 1.40 m, camera height 0.70 m</a:t>
            </a:r>
          </a:p>
          <a:p>
            <a:pPr algn="l">
              <a:spcBef>
                <a:spcPts val="1100"/>
              </a:spcBef>
            </a:pPr>
            <a:r>
              <a:rPr sz="1700" b="0" i="0">
                <a:solidFill>
                  <a:srgbClr val="1F2933"/>
                </a:solidFill>
                <a:latin typeface="Arial"/>
              </a:rPr>
              <a:t>•  At 0.55 m the VLM calls a fridge "a door" — a geometric fix, not a model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1">
                <a:solidFill>
                  <a:srgbClr val="5A6B7B"/>
                </a:solidFill>
                <a:latin typeface="Arial"/>
              </a:rPr>
              <a:t>The camera confirms identity at query time. It never builds the map.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Changing its mind mid-drive</a:t>
            </a:r>
          </a:p>
        </p:txBody>
      </p:sp>
      <p:pic>
        <p:nvPicPr>
          <p:cNvPr id="5" name="Picture 4" descr="preemp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858000" cy="31448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6858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A6B7B"/>
                </a:solidFill>
                <a:latin typeface="Arial"/>
              </a:rPr>
              <a:t>Fig. Isolated domain 160. The cancelled leg prints "cancelled (departing)" and never claims arrival. 7/7 criteria 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417320"/>
            <a:ext cx="4160519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Judgment order: new destination &gt; question &gt; cancel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Three pieces: to_thread · one task per utterance · code-side table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Heartbeat 0 vs 25 per 0.5 s proves why to_thread is required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Four bugs only a live run could find (stale seq, stuck thread, merged input, cancel parsed as a place)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F2933"/>
                </a:solidFill>
                <a:latin typeface="Arial"/>
              </a:rPr>
              <a:t>•  Guardrails: source-level assertions in the offline suite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Eleven measurements, not eleven opinions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51206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it proves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 (2026-10-26)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G1 / G1b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link + localisation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24 pose frames · 0.00 m / 0.0°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hard-coded goal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succeeded 13.3 s · 0.19 m · 0 recoveries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G3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object → standoff → Nav2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succeeded 63.0 s · 0.15 m off plan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mode D vision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1.79 m · VLM 13.1 s · 4/4 checks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G5 / G6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passability / question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laser 1.12 m + vision agree · 41.1 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G7 / G8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refusal / compound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0.0 s · two segments succeeded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offline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11 checks + 6 guard cases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11/11 · 6/6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7258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A6B7B"/>
                </a:solidFill>
                <a:latin typeface="Arial"/>
              </a:rPr>
              <a:t>A cancelled leg may never report arrival — that single sentence summarises half of the preemption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HONEST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What this project deliberately does not 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7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516"/>
                <a:gridCol w="3432516"/>
                <a:gridCol w="4290646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Gap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matters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loc:=amcl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never re-verified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every number here assumes truth poses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EKF fusion drift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7.1 m / −37°, unsolved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blocks wheel-odometry-only running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3D obstacles in costmap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not implemented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overhangs and table tops are invisible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semantic map from perception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not attempted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monocular camera has no depth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coverage &gt; 13.5 m²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measured ceiling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frontier exploration plateaus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voice / wake word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not implemented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the REPL is the only input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real hardware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never run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this is a simulation project throughout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67258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A6B7B"/>
                </a:solidFill>
                <a:latin typeface="Arial"/>
              </a:rPr>
              <a:t>Each row is a decision with a reason, not an oversight.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FC5E8"/>
                </a:solidFill>
                <a:latin typeface="Arial"/>
              </a:rPr>
              <a:t>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Arial"/>
              </a:rPr>
              <a:t>From a house to a warehouse: 4–6 days, three real changes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56692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Change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Nature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</a:t>
                      </a:r>
                    </a:p>
                  </a:txBody>
                  <a:tcPr marT="38100" marB="38100">
                    <a:solidFill>
                      <a:srgbClr val="102A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scale 18×14 m → 60×40 m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re-measure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range, loop closure, costmap size, budget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3D obstacles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architectural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voxel layer from /scan/points; overhangs become visible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slot-address semantics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architectural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A-12-03-2 → pose; new resolver, reuse standoff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world + parameters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data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new generator, lexicon, route, maps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everything else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unchanged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3"/>
                          </a:solidFill>
                          <a:latin typeface="Arial"/>
                        </a:defRPr>
                      </a:pPr>
                      <a:r>
                        <a:t>~3,900 lines: robot, launch, agent, tools, gates</a:t>
                      </a:r>
                    </a:p>
                  </a:txBody>
                  <a:tcPr marT="38100" marB="3810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044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5A6B7B"/>
                </a:solidFill>
                <a:latin typeface="Arial"/>
              </a:rPr>
              <a:t>Recommendation: add a world module in this repo (world:= switch, new branch), not a fork. Postponed on 2026-10-26 by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Arial"/>
              </a:rPr>
              <a:t>Three things worth carrying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424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200"/>
              </a:spcBef>
            </a:pPr>
            <a:r>
              <a:rPr sz="2100" b="1" i="0">
                <a:solidFill>
                  <a:srgbClr val="9FC5E8"/>
                </a:solidFill>
                <a:latin typeface="Arial"/>
              </a:rPr>
              <a:t>1.  Keep authority apart.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D5DFE8"/>
                </a:solidFill>
                <a:latin typeface="Arial"/>
              </a:rPr>
              <a:t>Code moves the robot and refuses what cannot exist; the model resolves ambiguity and talks.</a:t>
            </a:r>
          </a:p>
          <a:p>
            <a:pPr algn="l">
              <a:spcBef>
                <a:spcPts val="2200"/>
              </a:spcBef>
            </a:pPr>
            <a:r>
              <a:rPr sz="2100" b="1" i="0">
                <a:solidFill>
                  <a:srgbClr val="9FC5E8"/>
                </a:solidFill>
                <a:latin typeface="Arial"/>
              </a:rPr>
              <a:t>2.  Measure, then decide — and write down the retraction.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D5DFE8"/>
                </a:solidFill>
                <a:latin typeface="Arial"/>
              </a:rPr>
              <a:t>Clearance was a superstition until 3×3 said so. One published conclusion here was withdrawn.</a:t>
            </a:r>
          </a:p>
          <a:p>
            <a:pPr algn="l">
              <a:spcBef>
                <a:spcPts val="2200"/>
              </a:spcBef>
            </a:pPr>
            <a:r>
              <a:rPr sz="2100" b="1" i="0">
                <a:solidFill>
                  <a:srgbClr val="9FC5E8"/>
                </a:solidFill>
                <a:latin typeface="Arial"/>
              </a:rPr>
              <a:t>3.  Make failures loud at the edges.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D5DFE8"/>
                </a:solidFill>
                <a:latin typeface="Arial"/>
              </a:rPr>
              <a:t>A second publisher on /scan, a stale goal result, a cancelled leg claiming arrival — each is silent by nature, so each got a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